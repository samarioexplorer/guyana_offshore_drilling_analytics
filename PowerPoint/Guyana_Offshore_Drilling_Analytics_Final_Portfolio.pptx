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bal Ceballos" userId="01d252256fe7a973" providerId="LiveId" clId="{EA54D5F5-4575-4425-9FD5-F08650D26E18}"/>
    <pc:docChg chg="undo custSel modSld">
      <pc:chgData name="Anibal Ceballos" userId="01d252256fe7a973" providerId="LiveId" clId="{EA54D5F5-4575-4425-9FD5-F08650D26E18}" dt="2026-09-24T18:11:00.358" v="503" actId="20577"/>
      <pc:docMkLst>
        <pc:docMk/>
      </pc:docMkLst>
      <pc:sldChg chg="modSp mod">
        <pc:chgData name="Anibal Ceballos" userId="01d252256fe7a973" providerId="LiveId" clId="{EA54D5F5-4575-4425-9FD5-F08650D26E18}" dt="2026-09-24T16:34:34.174" v="12" actId="1076"/>
        <pc:sldMkLst>
          <pc:docMk/>
          <pc:sldMk cId="0" sldId="258"/>
        </pc:sldMkLst>
        <pc:spChg chg="mod">
          <ac:chgData name="Anibal Ceballos" userId="01d252256fe7a973" providerId="LiveId" clId="{EA54D5F5-4575-4425-9FD5-F08650D26E18}" dt="2026-09-24T16:34:07.406" v="6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6:34:15.030" v="8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6:33:57.726" v="5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6:33:50.610" v="4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6:34:29.878" v="11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6:34:34.174" v="12" actId="1076"/>
          <ac:spMkLst>
            <pc:docMk/>
            <pc:sldMk cId="0" sldId="258"/>
            <ac:spMk id="41" creationId="{00000000-0000-0000-0000-000000000000}"/>
          </ac:spMkLst>
        </pc:spChg>
      </pc:sldChg>
      <pc:sldChg chg="addSp delSp modSp mod">
        <pc:chgData name="Anibal Ceballos" userId="01d252256fe7a973" providerId="LiveId" clId="{EA54D5F5-4575-4425-9FD5-F08650D26E18}" dt="2026-09-24T16:55:12.366" v="56" actId="20577"/>
        <pc:sldMkLst>
          <pc:docMk/>
          <pc:sldMk cId="0" sldId="259"/>
        </pc:sldMkLst>
        <pc:spChg chg="mod">
          <ac:chgData name="Anibal Ceballos" userId="01d252256fe7a973" providerId="LiveId" clId="{EA54D5F5-4575-4425-9FD5-F08650D26E18}" dt="2026-09-24T16:55:12.366" v="56" actId="20577"/>
          <ac:spMkLst>
            <pc:docMk/>
            <pc:sldMk cId="0" sldId="259"/>
            <ac:spMk id="2" creationId="{00000000-0000-0000-0000-000000000000}"/>
          </ac:spMkLst>
        </pc:spChg>
        <pc:picChg chg="del">
          <ac:chgData name="Anibal Ceballos" userId="01d252256fe7a973" providerId="LiveId" clId="{EA54D5F5-4575-4425-9FD5-F08650D26E18}" dt="2026-09-24T16:36:09.227" v="13" actId="478"/>
          <ac:picMkLst>
            <pc:docMk/>
            <pc:sldMk cId="0" sldId="259"/>
            <ac:picMk id="6" creationId="{00000000-0000-0000-0000-000000000000}"/>
          </ac:picMkLst>
        </pc:picChg>
        <pc:picChg chg="add mod">
          <ac:chgData name="Anibal Ceballos" userId="01d252256fe7a973" providerId="LiveId" clId="{EA54D5F5-4575-4425-9FD5-F08650D26E18}" dt="2026-09-24T16:36:36.190" v="22" actId="14100"/>
          <ac:picMkLst>
            <pc:docMk/>
            <pc:sldMk cId="0" sldId="259"/>
            <ac:picMk id="10" creationId="{7B44F867-9603-F3C9-39C3-98F49C329A91}"/>
          </ac:picMkLst>
        </pc:picChg>
      </pc:sldChg>
      <pc:sldChg chg="addSp delSp modSp mod">
        <pc:chgData name="Anibal Ceballos" userId="01d252256fe7a973" providerId="LiveId" clId="{EA54D5F5-4575-4425-9FD5-F08650D26E18}" dt="2026-09-24T16:37:43.714" v="32" actId="1035"/>
        <pc:sldMkLst>
          <pc:docMk/>
          <pc:sldMk cId="0" sldId="260"/>
        </pc:sldMkLst>
        <pc:picChg chg="del">
          <ac:chgData name="Anibal Ceballos" userId="01d252256fe7a973" providerId="LiveId" clId="{EA54D5F5-4575-4425-9FD5-F08650D26E18}" dt="2026-09-24T16:36:58.490" v="23" actId="478"/>
          <ac:picMkLst>
            <pc:docMk/>
            <pc:sldMk cId="0" sldId="260"/>
            <ac:picMk id="6" creationId="{00000000-0000-0000-0000-000000000000}"/>
          </ac:picMkLst>
        </pc:picChg>
        <pc:picChg chg="add mod">
          <ac:chgData name="Anibal Ceballos" userId="01d252256fe7a973" providerId="LiveId" clId="{EA54D5F5-4575-4425-9FD5-F08650D26E18}" dt="2026-09-24T16:37:43.714" v="32" actId="1035"/>
          <ac:picMkLst>
            <pc:docMk/>
            <pc:sldMk cId="0" sldId="260"/>
            <ac:picMk id="10" creationId="{DA2D60EB-8192-59BC-DCE5-BB85B8655074}"/>
          </ac:picMkLst>
        </pc:picChg>
      </pc:sldChg>
      <pc:sldChg chg="addSp delSp modSp mod">
        <pc:chgData name="Anibal Ceballos" userId="01d252256fe7a973" providerId="LiveId" clId="{EA54D5F5-4575-4425-9FD5-F08650D26E18}" dt="2026-09-24T17:10:02.474" v="104" actId="14100"/>
        <pc:sldMkLst>
          <pc:docMk/>
          <pc:sldMk cId="0" sldId="261"/>
        </pc:sldMkLst>
        <pc:picChg chg="del">
          <ac:chgData name="Anibal Ceballos" userId="01d252256fe7a973" providerId="LiveId" clId="{EA54D5F5-4575-4425-9FD5-F08650D26E18}" dt="2026-09-24T16:54:28.315" v="33" actId="478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Anibal Ceballos" userId="01d252256fe7a973" providerId="LiveId" clId="{EA54D5F5-4575-4425-9FD5-F08650D26E18}" dt="2026-09-24T17:10:02.474" v="104" actId="14100"/>
          <ac:picMkLst>
            <pc:docMk/>
            <pc:sldMk cId="0" sldId="261"/>
            <ac:picMk id="10" creationId="{C3FA7106-83EC-6A68-F4DC-FEC73EC545AE}"/>
          </ac:picMkLst>
        </pc:picChg>
      </pc:sldChg>
      <pc:sldChg chg="addSp delSp modSp mod">
        <pc:chgData name="Anibal Ceballos" userId="01d252256fe7a973" providerId="LiveId" clId="{EA54D5F5-4575-4425-9FD5-F08650D26E18}" dt="2026-09-24T17:10:10.529" v="105" actId="14100"/>
        <pc:sldMkLst>
          <pc:docMk/>
          <pc:sldMk cId="0" sldId="262"/>
        </pc:sldMkLst>
        <pc:picChg chg="del">
          <ac:chgData name="Anibal Ceballos" userId="01d252256fe7a973" providerId="LiveId" clId="{EA54D5F5-4575-4425-9FD5-F08650D26E18}" dt="2026-09-24T16:55:17.204" v="57" actId="478"/>
          <ac:picMkLst>
            <pc:docMk/>
            <pc:sldMk cId="0" sldId="262"/>
            <ac:picMk id="6" creationId="{00000000-0000-0000-0000-000000000000}"/>
          </ac:picMkLst>
        </pc:picChg>
        <pc:picChg chg="add mod">
          <ac:chgData name="Anibal Ceballos" userId="01d252256fe7a973" providerId="LiveId" clId="{EA54D5F5-4575-4425-9FD5-F08650D26E18}" dt="2026-09-24T17:10:10.529" v="105" actId="14100"/>
          <ac:picMkLst>
            <pc:docMk/>
            <pc:sldMk cId="0" sldId="262"/>
            <ac:picMk id="10" creationId="{7640E7C0-F525-AD42-E25C-10BC15EB15CD}"/>
          </ac:picMkLst>
        </pc:picChg>
      </pc:sldChg>
      <pc:sldChg chg="modSp mod">
        <pc:chgData name="Anibal Ceballos" userId="01d252256fe7a973" providerId="LiveId" clId="{EA54D5F5-4575-4425-9FD5-F08650D26E18}" dt="2026-09-24T18:08:47.358" v="495" actId="20577"/>
        <pc:sldMkLst>
          <pc:docMk/>
          <pc:sldMk cId="0" sldId="263"/>
        </pc:sldMkLst>
        <pc:spChg chg="mod">
          <ac:chgData name="Anibal Ceballos" userId="01d252256fe7a973" providerId="LiveId" clId="{EA54D5F5-4575-4425-9FD5-F08650D26E18}" dt="2026-09-24T16:56:13.934" v="67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8:08:47.358" v="495" actId="20577"/>
          <ac:spMkLst>
            <pc:docMk/>
            <pc:sldMk cId="0" sldId="263"/>
            <ac:spMk id="19" creationId="{00000000-0000-0000-0000-000000000000}"/>
          </ac:spMkLst>
        </pc:spChg>
      </pc:sldChg>
      <pc:sldChg chg="delSp modSp mod">
        <pc:chgData name="Anibal Ceballos" userId="01d252256fe7a973" providerId="LiveId" clId="{EA54D5F5-4575-4425-9FD5-F08650D26E18}" dt="2026-09-24T17:23:49.819" v="409" actId="478"/>
        <pc:sldMkLst>
          <pc:docMk/>
          <pc:sldMk cId="0" sldId="264"/>
        </pc:sldMkLst>
        <pc:spChg chg="mod">
          <ac:chgData name="Anibal Ceballos" userId="01d252256fe7a973" providerId="LiveId" clId="{EA54D5F5-4575-4425-9FD5-F08650D26E18}" dt="2026-09-24T17:11:23.388" v="166" actId="1076"/>
          <ac:spMkLst>
            <pc:docMk/>
            <pc:sldMk cId="0" sldId="264"/>
            <ac:spMk id="8" creationId="{00000000-0000-0000-0000-000000000000}"/>
          </ac:spMkLst>
        </pc:spChg>
        <pc:spChg chg="del">
          <ac:chgData name="Anibal Ceballos" userId="01d252256fe7a973" providerId="LiveId" clId="{EA54D5F5-4575-4425-9FD5-F08650D26E18}" dt="2026-09-24T17:23:36.953" v="403" actId="478"/>
          <ac:spMkLst>
            <pc:docMk/>
            <pc:sldMk cId="0" sldId="264"/>
            <ac:spMk id="9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12:10.774" v="212" actId="1076"/>
          <ac:spMkLst>
            <pc:docMk/>
            <pc:sldMk cId="0" sldId="264"/>
            <ac:spMk id="13" creationId="{00000000-0000-0000-0000-000000000000}"/>
          </ac:spMkLst>
        </pc:spChg>
        <pc:spChg chg="del">
          <ac:chgData name="Anibal Ceballos" userId="01d252256fe7a973" providerId="LiveId" clId="{EA54D5F5-4575-4425-9FD5-F08650D26E18}" dt="2026-09-24T17:23:37.999" v="404" actId="478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12:46.561" v="253" actId="1076"/>
          <ac:spMkLst>
            <pc:docMk/>
            <pc:sldMk cId="0" sldId="264"/>
            <ac:spMk id="18" creationId="{00000000-0000-0000-0000-000000000000}"/>
          </ac:spMkLst>
        </pc:spChg>
        <pc:spChg chg="del mod">
          <ac:chgData name="Anibal Ceballos" userId="01d252256fe7a973" providerId="LiveId" clId="{EA54D5F5-4575-4425-9FD5-F08650D26E18}" dt="2026-09-24T17:23:40.186" v="406" actId="478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13:21.938" v="297" actId="1076"/>
          <ac:spMkLst>
            <pc:docMk/>
            <pc:sldMk cId="0" sldId="264"/>
            <ac:spMk id="23" creationId="{00000000-0000-0000-0000-000000000000}"/>
          </ac:spMkLst>
        </pc:spChg>
        <pc:spChg chg="del">
          <ac:chgData name="Anibal Ceballos" userId="01d252256fe7a973" providerId="LiveId" clId="{EA54D5F5-4575-4425-9FD5-F08650D26E18}" dt="2026-09-24T17:23:43.226" v="407" actId="478"/>
          <ac:spMkLst>
            <pc:docMk/>
            <pc:sldMk cId="0" sldId="264"/>
            <ac:spMk id="24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13:49.344" v="347" actId="107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Anibal Ceballos" userId="01d252256fe7a973" providerId="LiveId" clId="{EA54D5F5-4575-4425-9FD5-F08650D26E18}" dt="2026-09-24T17:23:45.481" v="408" actId="478"/>
          <ac:spMkLst>
            <pc:docMk/>
            <pc:sldMk cId="0" sldId="264"/>
            <ac:spMk id="29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14:47.697" v="402" actId="1076"/>
          <ac:spMkLst>
            <pc:docMk/>
            <pc:sldMk cId="0" sldId="264"/>
            <ac:spMk id="33" creationId="{00000000-0000-0000-0000-000000000000}"/>
          </ac:spMkLst>
        </pc:spChg>
        <pc:spChg chg="del">
          <ac:chgData name="Anibal Ceballos" userId="01d252256fe7a973" providerId="LiveId" clId="{EA54D5F5-4575-4425-9FD5-F08650D26E18}" dt="2026-09-24T17:23:49.819" v="409" actId="478"/>
          <ac:spMkLst>
            <pc:docMk/>
            <pc:sldMk cId="0" sldId="264"/>
            <ac:spMk id="34" creationId="{00000000-0000-0000-0000-000000000000}"/>
          </ac:spMkLst>
        </pc:spChg>
      </pc:sldChg>
      <pc:sldChg chg="modSp mod">
        <pc:chgData name="Anibal Ceballos" userId="01d252256fe7a973" providerId="LiveId" clId="{EA54D5F5-4575-4425-9FD5-F08650D26E18}" dt="2026-09-24T17:32:23.515" v="439" actId="1076"/>
        <pc:sldMkLst>
          <pc:docMk/>
          <pc:sldMk cId="0" sldId="269"/>
        </pc:sldMkLst>
        <pc:spChg chg="mod">
          <ac:chgData name="Anibal Ceballos" userId="01d252256fe7a973" providerId="LiveId" clId="{EA54D5F5-4575-4425-9FD5-F08650D26E18}" dt="2026-09-24T17:32:14.963" v="437" actId="1076"/>
          <ac:spMkLst>
            <pc:docMk/>
            <pc:sldMk cId="0" sldId="269"/>
            <ac:spMk id="43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2:23.515" v="439" actId="1076"/>
          <ac:spMkLst>
            <pc:docMk/>
            <pc:sldMk cId="0" sldId="269"/>
            <ac:spMk id="44" creationId="{00000000-0000-0000-0000-000000000000}"/>
          </ac:spMkLst>
        </pc:spChg>
      </pc:sldChg>
      <pc:sldChg chg="modSp mod">
        <pc:chgData name="Anibal Ceballos" userId="01d252256fe7a973" providerId="LiveId" clId="{EA54D5F5-4575-4425-9FD5-F08650D26E18}" dt="2026-09-24T18:11:00.358" v="503" actId="20577"/>
        <pc:sldMkLst>
          <pc:docMk/>
          <pc:sldMk cId="0" sldId="270"/>
        </pc:sldMkLst>
        <pc:spChg chg="mod">
          <ac:chgData name="Anibal Ceballos" userId="01d252256fe7a973" providerId="LiveId" clId="{EA54D5F5-4575-4425-9FD5-F08650D26E18}" dt="2026-09-24T17:33:13.645" v="449" actId="1076"/>
          <ac:spMkLst>
            <pc:docMk/>
            <pc:sldMk cId="0" sldId="270"/>
            <ac:spMk id="34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3:39.436" v="455" actId="14100"/>
          <ac:spMkLst>
            <pc:docMk/>
            <pc:sldMk cId="0" sldId="270"/>
            <ac:spMk id="35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8:11:00.358" v="503" actId="20577"/>
          <ac:spMkLst>
            <pc:docMk/>
            <pc:sldMk cId="0" sldId="270"/>
            <ac:spMk id="36" creationId="{00000000-0000-0000-0000-000000000000}"/>
          </ac:spMkLst>
        </pc:spChg>
      </pc:sldChg>
      <pc:sldChg chg="modSp mod">
        <pc:chgData name="Anibal Ceballos" userId="01d252256fe7a973" providerId="LiveId" clId="{EA54D5F5-4575-4425-9FD5-F08650D26E18}" dt="2026-09-24T17:34:32.368" v="462" actId="14100"/>
        <pc:sldMkLst>
          <pc:docMk/>
          <pc:sldMk cId="0" sldId="272"/>
        </pc:sldMkLst>
        <pc:spChg chg="mod">
          <ac:chgData name="Anibal Ceballos" userId="01d252256fe7a973" providerId="LiveId" clId="{EA54D5F5-4575-4425-9FD5-F08650D26E18}" dt="2026-09-24T17:34:32.368" v="462" actId="14100"/>
          <ac:spMkLst>
            <pc:docMk/>
            <pc:sldMk cId="0" sldId="272"/>
            <ac:spMk id="28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4:25.340" v="461" actId="14100"/>
          <ac:spMkLst>
            <pc:docMk/>
            <pc:sldMk cId="0" sldId="272"/>
            <ac:spMk id="29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4:04.154" v="459" actId="20577"/>
          <ac:spMkLst>
            <pc:docMk/>
            <pc:sldMk cId="0" sldId="272"/>
            <ac:spMk id="30" creationId="{00000000-0000-0000-0000-000000000000}"/>
          </ac:spMkLst>
        </pc:spChg>
      </pc:sldChg>
      <pc:sldChg chg="modSp mod">
        <pc:chgData name="Anibal Ceballos" userId="01d252256fe7a973" providerId="LiveId" clId="{EA54D5F5-4575-4425-9FD5-F08650D26E18}" dt="2026-09-24T17:35:18.588" v="475" actId="1076"/>
        <pc:sldMkLst>
          <pc:docMk/>
          <pc:sldMk cId="0" sldId="273"/>
        </pc:sldMkLst>
        <pc:spChg chg="mod">
          <ac:chgData name="Anibal Ceballos" userId="01d252256fe7a973" providerId="LiveId" clId="{EA54D5F5-4575-4425-9FD5-F08650D26E18}" dt="2026-09-24T17:34:47.538" v="464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4:55.488" v="466" actId="14100"/>
          <ac:spMkLst>
            <pc:docMk/>
            <pc:sldMk cId="0" sldId="273"/>
            <ac:spMk id="35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5:18.588" v="475" actId="1076"/>
          <ac:spMkLst>
            <pc:docMk/>
            <pc:sldMk cId="0" sldId="273"/>
            <ac:spMk id="36" creationId="{00000000-0000-0000-0000-000000000000}"/>
          </ac:spMkLst>
        </pc:spChg>
      </pc:sldChg>
      <pc:sldChg chg="modSp mod">
        <pc:chgData name="Anibal Ceballos" userId="01d252256fe7a973" providerId="LiveId" clId="{EA54D5F5-4575-4425-9FD5-F08650D26E18}" dt="2026-09-24T17:36:34.333" v="489" actId="14100"/>
        <pc:sldMkLst>
          <pc:docMk/>
          <pc:sldMk cId="0" sldId="274"/>
        </pc:sldMkLst>
        <pc:spChg chg="mod">
          <ac:chgData name="Anibal Ceballos" userId="01d252256fe7a973" providerId="LiveId" clId="{EA54D5F5-4575-4425-9FD5-F08650D26E18}" dt="2026-09-24T17:36:02.243" v="484" actId="1035"/>
          <ac:spMkLst>
            <pc:docMk/>
            <pc:sldMk cId="0" sldId="274"/>
            <ac:spMk id="40" creationId="{00000000-0000-0000-0000-000000000000}"/>
          </ac:spMkLst>
        </pc:spChg>
        <pc:spChg chg="mod">
          <ac:chgData name="Anibal Ceballos" userId="01d252256fe7a973" providerId="LiveId" clId="{EA54D5F5-4575-4425-9FD5-F08650D26E18}" dt="2026-09-24T17:36:34.333" v="489" actId="14100"/>
          <ac:spMkLst>
            <pc:docMk/>
            <pc:sldMk cId="0" sldId="274"/>
            <ac:spMk id="41" creationId="{00000000-0000-0000-0000-000000000000}"/>
          </ac:spMkLst>
        </pc:spChg>
      </pc:sldChg>
      <pc:sldChg chg="modSp mod">
        <pc:chgData name="Anibal Ceballos" userId="01d252256fe7a973" providerId="LiveId" clId="{EA54D5F5-4575-4425-9FD5-F08650D26E18}" dt="2026-09-24T17:37:01.085" v="491" actId="14100"/>
        <pc:sldMkLst>
          <pc:docMk/>
          <pc:sldMk cId="0" sldId="275"/>
        </pc:sldMkLst>
        <pc:spChg chg="mod">
          <ac:chgData name="Anibal Ceballos" userId="01d252256fe7a973" providerId="LiveId" clId="{EA54D5F5-4575-4425-9FD5-F08650D26E18}" dt="2026-09-24T17:37:01.085" v="491" actId="14100"/>
          <ac:spMkLst>
            <pc:docMk/>
            <pc:sldMk cId="0" sldId="275"/>
            <ac:spMk id="3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98DB"/>
                </a:solidFill>
                <a:latin typeface="Aptos"/>
              </a:rPr>
              <a:t>GUYANA OFFSHORE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DRILLING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  <a:latin typeface="Aptos"/>
              </a:rPr>
              <a:t>Operational Performance, NPT Root Cause
&amp;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Power BI  •  SQL  •  Python  •  DAX  •  Operational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952,078.8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4748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Total Footage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663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4,008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04748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NPT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663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$198.15M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04748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Rig Economic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98DB"/>
                </a:solidFill>
                <a:latin typeface="Aptos"/>
              </a:rPr>
              <a:t>Portfolio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The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Turning drilling-performance data into actionable operational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0292" cy="12984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How efficiently?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257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Drilling efficiency and 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1568" y="1417320"/>
            <a:ext cx="50292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Where is time lost?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2257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NPT hours and NPT/day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1417320"/>
            <a:ext cx="50292" cy="12984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ROOT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Why?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2257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Categories and root causes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14173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70848" y="1417320"/>
            <a:ext cx="50292" cy="12984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What is the impact?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22575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Cost and economic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1546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The analytical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661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Transform drilling-performance data into a decision-support framework that connects operational performance, NPT drivers and economic consequence.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1772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17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Establish consistent project-wide KPIs and definitions.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7492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749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Identify where drilling performance and downtime vary.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61772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17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Trace NPT from category to root cause.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07492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0749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Translate operational loss into economic impact.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From Operational Data to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 multi-layer analytics workflow behind the Power BI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0292" cy="1417320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SOURCE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52927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Well • Rig • Drilling • NPT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8288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07208" y="1828800"/>
            <a:ext cx="50292" cy="1417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96596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52927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Data preparation /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8288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11496" y="1828800"/>
            <a:ext cx="50292" cy="1417320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196596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852927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Analytical layer / benchmarking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4" y="18288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15784" y="1828800"/>
            <a:ext cx="50292" cy="1417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0376" y="196596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POWER BI + DAX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6" y="2852927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Semantic model / KPI logic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72" y="18288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20072" y="1828800"/>
            <a:ext cx="5029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84664" y="196596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4664" y="2852927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Performance • NPT • Economics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947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Validation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24528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QA was applied across KPI reconciliation, filter context, rig-level NPT behavior, page consistency and visual presentation before finalizing the dashboard.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66360"/>
            <a:ext cx="3337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5166360"/>
            <a:ext cx="50292" cy="8412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530352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DATA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54" y="5414133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81628"/>
                </a:solidFill>
                <a:latin typeface="Aptos"/>
              </a:rPr>
              <a:t>Reconciliation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3083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B"/>
                </a:solidFill>
                <a:latin typeface="Aptos"/>
              </a:rPr>
              <a:t>Totals and KPI consistency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5166360"/>
            <a:ext cx="3337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60520" y="5166360"/>
            <a:ext cx="5029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5112" y="530352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4889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81628"/>
                </a:solidFill>
                <a:latin typeface="Aptos"/>
              </a:rPr>
              <a:t>Filter 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0854" y="572321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B"/>
                </a:solidFill>
                <a:latin typeface="Aptos"/>
              </a:rPr>
              <a:t>Rig / well / scenario context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5166360"/>
            <a:ext cx="3337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26679" y="5166360"/>
            <a:ext cx="50292" cy="8412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91271" y="530352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475569"/>
                </a:solidFill>
                <a:latin typeface="Aptos"/>
              </a:rPr>
              <a:t>VISUAL 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39" y="544889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81628"/>
                </a:solidFill>
                <a:latin typeface="Aptos"/>
              </a:rPr>
              <a:t>Release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1" y="5721539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64748B"/>
                </a:solidFill>
                <a:latin typeface="Aptos"/>
              </a:rPr>
              <a:t>Consistent layout and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81628"/>
                </a:solidFill>
                <a:latin typeface="Aptos"/>
              </a:rPr>
              <a:t>Dashboard — Executive </a:t>
            </a:r>
            <a:r>
              <a:rPr lang="en-US" sz="2500" b="1" dirty="0">
                <a:solidFill>
                  <a:srgbClr val="081628"/>
                </a:solidFill>
                <a:latin typeface="Aptos"/>
              </a:rPr>
              <a:t>Operational </a:t>
            </a:r>
            <a:r>
              <a:rPr sz="2500" b="1" dirty="0">
                <a:solidFill>
                  <a:srgbClr val="081628"/>
                </a:solidFill>
                <a:latin typeface="Aptos"/>
              </a:rPr>
              <a:t>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Executive status, operational risks, root causes and improvement initiatives.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768" y="1389888"/>
            <a:ext cx="1133856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4F867-9603-F3C9-39C3-98F49C329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03" y="1389888"/>
            <a:ext cx="9861756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Dashboard —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Drilling efficiency, ROP, footage, drilling time and NPT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768" y="1389888"/>
            <a:ext cx="1133856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2D60EB-8192-59BC-DCE5-BB85B8655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64" y="1410684"/>
            <a:ext cx="9783097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Dashboard — NPT &amp; 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Downtime, root causes, NPT categories, economic consequence and trend.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768" y="1389888"/>
            <a:ext cx="1133856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FA7106-83EC-6A68-F4DC-FEC73EC5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1389888"/>
            <a:ext cx="10036410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Dashboard — Rig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Rig-level benchmarking across ROP, NPT, footage, cost and economic impact.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768" y="1389888"/>
            <a:ext cx="11338560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40E7C0-F525-AD42-E25C-10BC15EB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416" y="1376172"/>
            <a:ext cx="10021168" cy="49697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From Data to Operational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The dashboard connects performance, downtime, root cause and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50292" cy="1417320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81628"/>
                </a:solidFill>
                <a:latin typeface="Aptos"/>
              </a:rPr>
              <a:t>33.67 ft/hr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6002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10712" y="160020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17373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0391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081628"/>
                </a:solidFill>
                <a:latin typeface="Aptos"/>
              </a:rPr>
              <a:t>4,008 h</a:t>
            </a:r>
            <a:r>
              <a:rPr lang="en-US" sz="2100" b="1" dirty="0">
                <a:solidFill>
                  <a:srgbClr val="081628"/>
                </a:solidFill>
                <a:latin typeface="Aptos"/>
              </a:rPr>
              <a:t>ours</a:t>
            </a:r>
            <a:r>
              <a:rPr sz="2100" b="1" dirty="0">
                <a:solidFill>
                  <a:srgbClr val="081628"/>
                </a:solidFill>
                <a:latin typeface="Aptos"/>
              </a:rPr>
              <a:t> NPT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6002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1600200"/>
            <a:ext cx="5029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17373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0391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81628"/>
                </a:solidFill>
                <a:latin typeface="Aptos"/>
              </a:rPr>
              <a:t>Category → Cause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6002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43416" y="1600200"/>
            <a:ext cx="5029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1737360"/>
            <a:ext cx="214884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50" b="1" dirty="0">
                <a:solidFill>
                  <a:srgbClr val="475569"/>
                </a:solidFill>
                <a:latin typeface="Aptos"/>
              </a:rPr>
              <a:t>NPT </a:t>
            </a:r>
            <a:r>
              <a:rPr sz="950" b="1" dirty="0">
                <a:solidFill>
                  <a:srgbClr val="475569"/>
                </a:solidFill>
                <a:latin typeface="Aptos"/>
              </a:rPr>
              <a:t>ECONOMIC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0391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81628"/>
                </a:solidFill>
                <a:latin typeface="Aptos"/>
              </a:rPr>
              <a:t>$79.20M NPT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03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The analytical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605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Aptos"/>
              </a:rPr>
              <a:t>Drilling Performance  →  NPT  →  Root Cause  →  Economic Consequence  →  Operational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Project-level benchmarks provide the reference point.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Rig-level analysis reveals where performance differs.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89204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Root-cause analysis provides an investigation path.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349240"/>
            <a:ext cx="137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DA0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492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Economic metrics connect engineering performance to business consequence.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Operational Improvement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Six initiatives are surfaced in the executive layer for scenario-based decision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292" cy="1325880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INIT-001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50889"/>
            <a:ext cx="3063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081628"/>
                </a:solidFill>
                <a:latin typeface="Aptos"/>
              </a:rPr>
              <a:t>Mechanical Reliability Program</a:t>
            </a:r>
            <a:endParaRPr sz="1800" b="1" dirty="0">
              <a:solidFill>
                <a:srgbClr val="08162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50292" cy="1325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73736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INIT-002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12658"/>
            <a:ext cx="3063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081628"/>
                </a:solidFill>
                <a:latin typeface="Aptos"/>
              </a:rPr>
              <a:t>Weather &amp; Marine Operations Resilience</a:t>
            </a:r>
            <a:endParaRPr sz="1800" b="1" dirty="0">
              <a:solidFill>
                <a:srgbClr val="08162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16002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5029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73736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INIT-003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912657"/>
            <a:ext cx="3063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081628"/>
                </a:solidFill>
                <a:latin typeface="Aptos"/>
              </a:rPr>
              <a:t>Drilling dysfunction reduction program</a:t>
            </a:r>
            <a:endParaRPr sz="1800" b="1" dirty="0">
              <a:solidFill>
                <a:srgbClr val="08162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50292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42900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INIT-004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661926"/>
            <a:ext cx="3063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081628"/>
                </a:solidFill>
                <a:latin typeface="Aptos"/>
              </a:rPr>
              <a:t>Supply chain &amp; logistics optimization</a:t>
            </a:r>
            <a:endParaRPr sz="1800" b="1" dirty="0">
              <a:solidFill>
                <a:srgbClr val="081628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34840" y="329184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291840"/>
            <a:ext cx="5029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2" y="342900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INIT-005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3661926"/>
            <a:ext cx="3063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081628"/>
                </a:solidFill>
                <a:latin typeface="Aptos"/>
              </a:rPr>
              <a:t>Drilling performance optimization</a:t>
            </a:r>
            <a:endParaRPr sz="1800" b="1" dirty="0">
              <a:solidFill>
                <a:srgbClr val="081628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0" y="329184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291840"/>
            <a:ext cx="50292" cy="1325880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94192" y="342900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INIT-006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3661926"/>
            <a:ext cx="3063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081628"/>
                </a:solidFill>
                <a:latin typeface="Aptos"/>
              </a:rPr>
              <a:t>People, competency &amp; operational readiness</a:t>
            </a:r>
            <a:endParaRPr sz="1800" b="1" dirty="0">
              <a:solidFill>
                <a:srgbClr val="081628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" y="51663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81628"/>
                </a:solidFill>
                <a:latin typeface="Aptos"/>
              </a:rPr>
              <a:t>Scenario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53212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Baseline  •  Conservative  •  Target  •  Stretch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9253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Initiative IDs and scenario structure are preserved from the finalized dashboard.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Decision Support by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The same analytical model supports different operational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356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50292" cy="713232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105613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EXECUTIVE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105613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1628"/>
                </a:solidFill>
                <a:latin typeface="Aptos"/>
              </a:rPr>
              <a:t>Where is the economic exposure?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0008"/>
            <a:ext cx="108356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350008"/>
            <a:ext cx="50292" cy="7132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105613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DRILLING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88920"/>
            <a:ext cx="105613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1628"/>
                </a:solidFill>
                <a:latin typeface="Aptos"/>
              </a:rPr>
              <a:t>Where is operational performance changing?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82696"/>
            <a:ext cx="108356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282696"/>
            <a:ext cx="5029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419856"/>
            <a:ext cx="105613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PERFORMANCE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721608"/>
            <a:ext cx="105613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1628"/>
                </a:solidFill>
                <a:latin typeface="Aptos"/>
              </a:rPr>
              <a:t>Which rig / well requires investigation?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15384"/>
            <a:ext cx="108356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215384"/>
            <a:ext cx="50292" cy="7132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352544"/>
            <a:ext cx="105613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654296"/>
            <a:ext cx="105613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1628"/>
                </a:solidFill>
                <a:latin typeface="Aptos"/>
              </a:rPr>
              <a:t>Which NPT drivers should be addressed?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148072"/>
            <a:ext cx="108356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5148072"/>
            <a:ext cx="50292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285232"/>
            <a:ext cx="105613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586983"/>
            <a:ext cx="105613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81628"/>
                </a:solidFill>
                <a:latin typeface="Aptos"/>
              </a:rPr>
              <a:t>What is the potential business consequence?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81628"/>
                </a:solidFill>
                <a:latin typeface="Aptos"/>
              </a:rPr>
              <a:t>Technical Implementation &amp;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Data engineering, analytics, modeling and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41148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0292" cy="1828800"/>
          </a:xfrm>
          <a:prstGeom prst="rect">
            <a:avLst/>
          </a:prstGeom>
          <a:solidFill>
            <a:srgbClr val="1E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81628"/>
                </a:solidFill>
                <a:latin typeface="Aptos"/>
              </a:rPr>
              <a:t>Data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52927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Preparation / structured datasets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1568" y="1417320"/>
            <a:ext cx="50292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81628"/>
                </a:solidFill>
                <a:latin typeface="Aptos"/>
              </a:rPr>
              <a:t>Analytical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52927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NPT analysis / benchmarking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4173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1417320"/>
            <a:ext cx="5029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POWER BI + DAX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81628"/>
                </a:solidFill>
                <a:latin typeface="Aptos"/>
              </a:rPr>
              <a:t>Decision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852927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Semantic model / interactive KPIs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141732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15984" y="1417320"/>
            <a:ext cx="5029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0576" y="1554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185623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81628"/>
                </a:solidFill>
                <a:latin typeface="Aptos"/>
              </a:rPr>
              <a:t>Release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852927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Reconciliation / filter-context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033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81628"/>
                </a:solidFill>
                <a:latin typeface="Aptos"/>
              </a:rPr>
              <a:t>Key QA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33087"/>
            <a:ext cx="10744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Rig Performance NPT Hours initially repeated the project total across every rig row. The filter-context issue was isolated and corrected so rig-level NPT reconciles to the 4,008-hour project total.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2303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1628"/>
                </a:solidFill>
                <a:latin typeface="Aptos"/>
              </a:rPr>
              <a:t>Final benchmark 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5961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293B"/>
                </a:solidFill>
                <a:latin typeface="Aptos"/>
              </a:rPr>
              <a:t>33.67 ft/hr  •  6.02 hr/day  •  4,008 hr  •  952,078.8 ft  •  $687.67/ft  •  666 days  •  $198.15M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Guyana Offshore Drilling Analytics  |  Portfolio Case Study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98DB"/>
                </a:solidFill>
                <a:latin typeface="Aptos"/>
              </a:rP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7132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From Operational Data
to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423160"/>
            <a:ext cx="79552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Aptos"/>
              </a:rPr>
              <a:t>A multi-layer drilling analytics solution connecting operational performance, NPT drivers, root causes, rig benchmarking and economic consequence.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1572768" cy="685800"/>
          </a:xfrm>
          <a:prstGeom prst="roundRect">
            <a:avLst/>
          </a:prstGeom>
          <a:solidFill>
            <a:srgbClr val="112B46"/>
          </a:solidFill>
          <a:ln>
            <a:solidFill>
              <a:srgbClr val="2C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169663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3977639"/>
            <a:ext cx="1572768" cy="685800"/>
          </a:xfrm>
          <a:prstGeom prst="roundRect">
            <a:avLst/>
          </a:prstGeom>
          <a:solidFill>
            <a:srgbClr val="112B46"/>
          </a:solidFill>
          <a:ln>
            <a:solidFill>
              <a:srgbClr val="2C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4169663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3977639"/>
            <a:ext cx="1572768" cy="685800"/>
          </a:xfrm>
          <a:prstGeom prst="roundRect">
            <a:avLst/>
          </a:prstGeom>
          <a:solidFill>
            <a:srgbClr val="112B46"/>
          </a:solidFill>
          <a:ln>
            <a:solidFill>
              <a:srgbClr val="2C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4169663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977639"/>
            <a:ext cx="1572768" cy="685800"/>
          </a:xfrm>
          <a:prstGeom prst="roundRect">
            <a:avLst/>
          </a:prstGeom>
          <a:solidFill>
            <a:srgbClr val="112B46"/>
          </a:solidFill>
          <a:ln>
            <a:solidFill>
              <a:srgbClr val="2C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54496" y="4169663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ROOT CAUSE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3977639"/>
            <a:ext cx="1572768" cy="685800"/>
          </a:xfrm>
          <a:prstGeom prst="roundRect">
            <a:avLst/>
          </a:prstGeom>
          <a:solidFill>
            <a:srgbClr val="112B46"/>
          </a:solidFill>
          <a:ln>
            <a:solidFill>
              <a:srgbClr val="2C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7" y="4169663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ECONOMICS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59" y="3977639"/>
            <a:ext cx="1572768" cy="685800"/>
          </a:xfrm>
          <a:prstGeom prst="roundRect">
            <a:avLst/>
          </a:prstGeom>
          <a:solidFill>
            <a:srgbClr val="112B46"/>
          </a:solidFill>
          <a:ln>
            <a:solidFill>
              <a:srgbClr val="2C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59" y="4169663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66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98DB"/>
                </a:solidFill>
                <a:latin typeface="Aptos"/>
              </a:rPr>
              <a:t>Portfolio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Drilling / Wells Engineering  •  Operational Performance Analytics  •  Power BI / SQL /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FINAL PORTFOLIO CASE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LAYER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Technical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Engineering traceability from source data to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1018520" cy="3429000"/>
          </a:xfrm>
          <a:prstGeom prst="round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2140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95728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Semantic structure and grain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2140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SQL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95728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Analytical layer and benchmarking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803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DAX KPI definitions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Measures, denominators and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07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8803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NPT calculation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54680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Event → hours → economic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6674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393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Rig / well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13631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Filter propagation and reconciliation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6674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6393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QA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913631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Validation and release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2569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9826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Scenario 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72583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Baseline → Stretch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2569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39826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Metric definitions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672583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Reference definitions for portfolio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01 /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Semantic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Star-schema design separates reusable dimensions from operational fact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5000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Date / calendar attributes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17296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3872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Well ID / status / water 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51960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436168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Dim_Rig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72744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Rig / day rate / capability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057400"/>
            <a:ext cx="2788920" cy="105156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17720" y="2057400"/>
            <a:ext cx="64008" cy="1051560"/>
          </a:xfrm>
          <a:prstGeom prst="roundRect">
            <a:avLst/>
          </a:prstGeom>
          <a:solidFill>
            <a:srgbClr val="56C7F5"/>
          </a:solidFill>
          <a:ln>
            <a:solidFill>
              <a:srgbClr val="56C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82312" y="2167128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Fact_Drilling_Daily_Report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2532888"/>
            <a:ext cx="251460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Daily drilling performance grain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749039"/>
            <a:ext cx="2788920" cy="105156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17720" y="3749039"/>
            <a:ext cx="64008" cy="1051560"/>
          </a:xfrm>
          <a:prstGeom prst="roundRect">
            <a:avLst/>
          </a:prstGeom>
          <a:solidFill>
            <a:srgbClr val="F0B54A"/>
          </a:solidFill>
          <a:ln>
            <a:solidFill>
              <a:srgbClr val="F0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82312" y="3858768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Fact_NPT_PBI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4224527"/>
            <a:ext cx="251460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Enriched NPT event grain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1874519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23960" y="1874519"/>
            <a:ext cx="64008" cy="914400"/>
          </a:xfrm>
          <a:prstGeom prst="roundRect">
            <a:avLst/>
          </a:prstGeom>
          <a:solidFill>
            <a:srgbClr val="4FBE84"/>
          </a:solidFill>
          <a:ln>
            <a:solidFill>
              <a:srgbClr val="4F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88552" y="198424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235000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Baseline / Conservative / Target / Stretch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063240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823960" y="3063240"/>
            <a:ext cx="64008" cy="914400"/>
          </a:xfrm>
          <a:prstGeom prst="roundRect">
            <a:avLst/>
          </a:prstGeom>
          <a:solidFill>
            <a:srgbClr val="4FBE84"/>
          </a:solidFill>
          <a:ln>
            <a:solidFill>
              <a:srgbClr val="4F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88552" y="317296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53872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KPI catalog / definitions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4251960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23960" y="4251960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88552" y="436168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Power BI semantic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472744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Measures + visuals + drill-through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34640" y="2331720"/>
            <a:ext cx="1783080" cy="22860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34640" y="2560320"/>
            <a:ext cx="1783080" cy="96012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34640" y="4251960"/>
            <a:ext cx="1783080" cy="45720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34640" y="3520440"/>
            <a:ext cx="1783080" cy="73152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06640" y="2560320"/>
            <a:ext cx="1417320" cy="18288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406640" y="3474720"/>
            <a:ext cx="1417320" cy="77724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5486733"/>
            <a:ext cx="14290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A9EB"/>
                </a:solidFill>
                <a:latin typeface="Aptos"/>
              </a:rPr>
              <a:t>Design principle</a:t>
            </a:r>
          </a:p>
        </p:txBody>
      </p:sp>
      <p:sp>
        <p:nvSpPr>
          <p:cNvPr id="44" name="TextBox 43"/>
          <p:cNvSpPr txBox="1"/>
          <p:nvPr/>
        </p:nvSpPr>
        <p:spPr>
          <a:xfrm rot="10800000" flipV="1">
            <a:off x="566925" y="5793730"/>
            <a:ext cx="5322598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9DAEC2"/>
                </a:solidFill>
                <a:latin typeface="Aptos"/>
              </a:rPr>
              <a:t>Dimensions provide stable filter context</a:t>
            </a:r>
            <a:r>
              <a:rPr lang="en-US" sz="1100" dirty="0">
                <a:solidFill>
                  <a:srgbClr val="9DAEC2"/>
                </a:solidFill>
                <a:latin typeface="Aptos"/>
              </a:rPr>
              <a:t>.</a:t>
            </a:r>
            <a:endParaRPr lang="en-US" sz="1100" b="0" dirty="0">
              <a:solidFill>
                <a:srgbClr val="9DAEC2"/>
              </a:solidFill>
              <a:latin typeface="Aptos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9DAEC2"/>
                </a:solidFill>
                <a:latin typeface="Aptos"/>
              </a:rPr>
              <a:t>F</a:t>
            </a:r>
            <a:r>
              <a:rPr sz="1100" b="0" dirty="0">
                <a:solidFill>
                  <a:srgbClr val="9DAEC2"/>
                </a:solidFill>
                <a:latin typeface="Aptos"/>
              </a:rPr>
              <a:t>acts retain the operational grain.</a:t>
            </a:r>
            <a:endParaRPr lang="en-US" sz="1100" b="0" dirty="0">
              <a:solidFill>
                <a:srgbClr val="9DAEC2"/>
              </a:solidFill>
              <a:latin typeface="Aptos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9DAEC2"/>
                </a:solidFill>
                <a:latin typeface="Aptos"/>
              </a:rPr>
              <a:t> Scenario and KPI catalogs remain explicit rather than embedded in visual logic.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02 / SQL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Analytical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SQL converts operational records into reconciled benchmarks, NPT diagnostics and decision-ready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874519" cy="246888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6C7F5"/>
                </a:solidFill>
                <a:latin typeface="Aptos"/>
              </a:rPr>
              <a:t>SQLite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93008"/>
            <a:ext cx="15727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Dim_Date · Dim_Well · Dim_Rig · Fact_Drilling · Fact_NPT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8803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965960"/>
            <a:ext cx="1874519" cy="246888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1" y="21214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24688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1" y="2880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6C7F5"/>
                </a:solidFill>
                <a:latin typeface="Aptos"/>
              </a:rPr>
              <a:t>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3493008"/>
            <a:ext cx="15727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Counts · keys · duplicates · nulls · referential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1965960"/>
            <a:ext cx="1874519" cy="246888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4" y="21214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4688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880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6C7F5"/>
                </a:solidFill>
                <a:latin typeface="Aptos"/>
              </a:rPr>
              <a:t>Operational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493008"/>
            <a:ext cx="15727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NPT by category · root cause · rig · well · monthly 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5" y="1965960"/>
            <a:ext cx="1874519" cy="246888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0375" y="21214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24688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RECONCILE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2880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6C7F5"/>
                </a:solidFill>
                <a:latin typeface="Aptos"/>
              </a:rPr>
              <a:t>Benchmark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3493008"/>
            <a:ext cx="15727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ROP · NPT/day · NPT hours · footage · cost/ft · economic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3" y="28803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0928" y="1965960"/>
            <a:ext cx="1874519" cy="246888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48088" y="212140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46888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880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6C7F5"/>
                </a:solidFill>
                <a:latin typeface="Aptos"/>
              </a:rPr>
              <a:t>Power BI inputs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493008"/>
            <a:ext cx="15727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Enriched facts · scenario outputs · KPI / decision catalogs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063" y="4639461"/>
            <a:ext cx="10944384" cy="868680"/>
          </a:xfrm>
          <a:prstGeom prst="roundRect">
            <a:avLst/>
          </a:prstGeom>
          <a:solidFill>
            <a:srgbClr val="142F49"/>
          </a:solidFill>
          <a:ln>
            <a:solidFill>
              <a:srgbClr val="14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673691"/>
            <a:ext cx="173735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A9EB"/>
                </a:solidFill>
                <a:latin typeface="Aptos"/>
              </a:rPr>
              <a:t>Reconciliation anchor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096506"/>
            <a:ext cx="100185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F5F8FC"/>
                </a:solidFill>
                <a:latin typeface="Aptos"/>
              </a:rPr>
              <a:t>33.67 ft/</a:t>
            </a:r>
            <a:r>
              <a:rPr sz="1100" b="1" dirty="0" err="1">
                <a:solidFill>
                  <a:srgbClr val="F5F8FC"/>
                </a:solidFill>
                <a:latin typeface="Aptos"/>
              </a:rPr>
              <a:t>h</a:t>
            </a:r>
            <a:r>
              <a:rPr lang="en-US" sz="1100" b="1" dirty="0" err="1">
                <a:solidFill>
                  <a:srgbClr val="F5F8FC"/>
                </a:solidFill>
                <a:latin typeface="Aptos"/>
              </a:rPr>
              <a:t>r</a:t>
            </a:r>
            <a:r>
              <a:rPr sz="1100" b="1" dirty="0">
                <a:solidFill>
                  <a:srgbClr val="F5F8FC"/>
                </a:solidFill>
                <a:latin typeface="Aptos"/>
              </a:rPr>
              <a:t>  •  6.02 NPT h/day  •  4,008 NPT </a:t>
            </a:r>
            <a:r>
              <a:rPr sz="1100" b="1">
                <a:solidFill>
                  <a:srgbClr val="F5F8FC"/>
                </a:solidFill>
                <a:latin typeface="Aptos"/>
              </a:rPr>
              <a:t>h</a:t>
            </a:r>
            <a:r>
              <a:rPr lang="en-US" sz="1100" b="1">
                <a:solidFill>
                  <a:srgbClr val="F5F8FC"/>
                </a:solidFill>
                <a:latin typeface="Aptos"/>
              </a:rPr>
              <a:t>r</a:t>
            </a:r>
            <a:r>
              <a:rPr sz="1100" b="1">
                <a:solidFill>
                  <a:srgbClr val="F5F8FC"/>
                </a:solidFill>
                <a:latin typeface="Aptos"/>
              </a:rPr>
              <a:t>  </a:t>
            </a:r>
            <a:r>
              <a:rPr sz="1100" b="1" dirty="0">
                <a:solidFill>
                  <a:srgbClr val="F5F8FC"/>
                </a:solidFill>
                <a:latin typeface="Aptos"/>
              </a:rPr>
              <a:t>•  952,078.8 ft  •  $687.67/ft  •  666 drilling days  •  $198.15M rig economic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03 / DAX KPI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Measure logic and denominator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KPI definitions are designed to remain stable under well, rig, date and scenario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8288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Definition /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828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Control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185416"/>
            <a:ext cx="10561320" cy="384048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Total Footage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SUM(Drilling[Footage_ft])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Additive drilling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660904"/>
            <a:ext cx="10561320" cy="384048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715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Drilling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15768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SUM(Drilling[Drilling_Hours])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157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Additive active drilling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136392"/>
            <a:ext cx="10561320" cy="384048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9125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Average 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19125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DIVIDE([Total Footage],[Drilling Hours])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9125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ft/hr; weighted by hours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611879"/>
            <a:ext cx="10561320" cy="384048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66674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NPT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666744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SUM(NPT[Duration_hr])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666744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Event duration, not event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4087368"/>
            <a:ext cx="10561320" cy="384048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1422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NPT /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142232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DIVIDE([NPT Hours],[Drilling Days])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1422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NPT hours per active drilling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562856"/>
            <a:ext cx="10561320" cy="384048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6177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Cost / Foot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617720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DIVIDE([Drilling Cost],[Total Footage])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6177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Economic intensity of drilled footage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5038344"/>
            <a:ext cx="10561320" cy="384048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09320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Rig Economic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093208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SUM(NPT[Rig_Economic_Impact_USD])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0932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Rig-level economic consequence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5513832"/>
            <a:ext cx="10561320" cy="384048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56869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NPT Event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5686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6C7F5"/>
                </a:solidFill>
                <a:latin typeface="Aptos"/>
              </a:rPr>
              <a:t>DISTINCTCOUNT(NPT[NPT_ID])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5686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Unique NPT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04 / NPT CALCULATION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Event-to-impact calculation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The NPT layer preserves event grain while exposing operational and economic consequences.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572768" cy="2057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37744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NPT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99232"/>
            <a:ext cx="1325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DAEC2"/>
                </a:solidFill>
                <a:latin typeface="Aptos"/>
              </a:rPr>
              <a:t>Date · Well · Rig · Category · 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9718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148840"/>
            <a:ext cx="1572768" cy="2057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237744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99232"/>
            <a:ext cx="1325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DAEC2"/>
                </a:solidFill>
                <a:latin typeface="Aptos"/>
              </a:rPr>
              <a:t>2 / 4 / 6 / 8 / 12 / 18 / 24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9718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148840"/>
            <a:ext cx="1572768" cy="2057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237744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999232"/>
            <a:ext cx="1325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DAEC2"/>
                </a:solidFill>
                <a:latin typeface="Aptos"/>
              </a:rPr>
              <a:t>Low ≤4 hr · Medium ≤12 hr · High &gt;12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29718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148840"/>
            <a:ext cx="1572768" cy="2057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37744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Rig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999232"/>
            <a:ext cx="1325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DAEC2"/>
                </a:solidFill>
                <a:latin typeface="Aptos"/>
              </a:rPr>
              <a:t>Duration × rig day-rate /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29718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2148840"/>
            <a:ext cx="1572768" cy="2057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1584" y="237744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Deferred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999232"/>
            <a:ext cx="1325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DAEC2"/>
                </a:solidFill>
                <a:latin typeface="Aptos"/>
              </a:rPr>
              <a:t>Event duration × production-value 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97180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A9E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148840"/>
            <a:ext cx="1572768" cy="2057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48672" y="237744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Total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999232"/>
            <a:ext cx="1325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DAEC2"/>
                </a:solidFill>
                <a:latin typeface="Aptos"/>
              </a:rPr>
              <a:t>Rig cost + deferred production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17720"/>
            <a:ext cx="10716768" cy="914400"/>
          </a:xfrm>
          <a:prstGeom prst="roundRect">
            <a:avLst/>
          </a:prstGeom>
          <a:solidFill>
            <a:srgbClr val="142F49"/>
          </a:solidFill>
          <a:ln>
            <a:solidFill>
              <a:srgbClr val="14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 rot="10800000" flipV="1">
            <a:off x="685799" y="4808178"/>
            <a:ext cx="21852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A9EB"/>
                </a:solidFill>
                <a:latin typeface="Aptos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 flipH="1">
            <a:off x="697992" y="5154427"/>
            <a:ext cx="948281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F5F8FC"/>
                </a:solidFill>
                <a:latin typeface="Aptos"/>
              </a:rPr>
              <a:t>NPT is not treated as a</a:t>
            </a:r>
            <a:r>
              <a:rPr lang="en-US" sz="1100" b="0" dirty="0">
                <a:solidFill>
                  <a:srgbClr val="F5F8FC"/>
                </a:solidFill>
                <a:latin typeface="Aptos"/>
              </a:rPr>
              <a:t> </a:t>
            </a:r>
            <a:r>
              <a:rPr sz="1100" b="0" dirty="0">
                <a:solidFill>
                  <a:srgbClr val="F5F8FC"/>
                </a:solidFill>
                <a:latin typeface="Aptos"/>
              </a:rPr>
              <a:t>single KPI: the same event can be traced from hours → cause → rig / well context → direct cost → total economic exposure.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05 / RIG &amp; WELL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Filter propagation and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Rig and well context must filter both drilling and NPT facts consistently.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1 well → many drilling rows</a:t>
            </a:r>
            <a:br/>
            <a:r>
              <a:rPr sz="1000" b="0">
                <a:solidFill>
                  <a:srgbClr val="9DAEC2"/>
                </a:solidFill>
                <a:latin typeface="Aptos"/>
              </a:rPr>
              <a:t>1 well → many NPT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201168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Dim_Rig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7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1 rig → many drilling rows</a:t>
            </a:r>
            <a:br/>
            <a:r>
              <a:rPr sz="1000" b="0">
                <a:solidFill>
                  <a:srgbClr val="9DAEC2"/>
                </a:solidFill>
                <a:latin typeface="Aptos"/>
              </a:rPr>
              <a:t>1 rig → many NPT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880360"/>
            <a:ext cx="201168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40480" y="2880360"/>
            <a:ext cx="64008" cy="914400"/>
          </a:xfrm>
          <a:prstGeom prst="roundRect">
            <a:avLst/>
          </a:prstGeom>
          <a:solidFill>
            <a:srgbClr val="26A9EB"/>
          </a:solidFill>
          <a:ln>
            <a:solidFill>
              <a:srgbClr val="26A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99008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Dim_Date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3355848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Calendar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57400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2057400"/>
            <a:ext cx="64008" cy="914400"/>
          </a:xfrm>
          <a:prstGeom prst="roundRect">
            <a:avLst/>
          </a:prstGeom>
          <a:solidFill>
            <a:srgbClr val="56C7F5"/>
          </a:solidFill>
          <a:ln>
            <a:solidFill>
              <a:srgbClr val="56C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16712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Fact_Drilling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532888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Daily performance grain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57600"/>
            <a:ext cx="21488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64008" cy="914400"/>
          </a:xfrm>
          <a:prstGeom prst="roundRect">
            <a:avLst/>
          </a:prstGeom>
          <a:solidFill>
            <a:srgbClr val="F0B54A"/>
          </a:solidFill>
          <a:ln>
            <a:solidFill>
              <a:srgbClr val="F0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3767328"/>
            <a:ext cx="1874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Fact_NPT_PBI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133087"/>
            <a:ext cx="1874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NPT event grain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2880360"/>
            <a:ext cx="1920240" cy="91440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64040" y="2880360"/>
            <a:ext cx="64008" cy="914400"/>
          </a:xfrm>
          <a:prstGeom prst="roundRect">
            <a:avLst/>
          </a:prstGeom>
          <a:solidFill>
            <a:srgbClr val="4FBE84"/>
          </a:solidFill>
          <a:ln>
            <a:solidFill>
              <a:srgbClr val="4F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28632" y="2990088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Visual / Drill-through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335584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AEC2"/>
                </a:solidFill>
                <a:latin typeface="Aptos"/>
              </a:rPr>
              <a:t>Rig / well investigation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743200" y="2514600"/>
            <a:ext cx="3657600" cy="4572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4114800"/>
            <a:ext cx="3657600" cy="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852160" y="2514600"/>
            <a:ext cx="548640" cy="82296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52160" y="3337560"/>
            <a:ext cx="548640" cy="77724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49640" y="2514600"/>
            <a:ext cx="914400" cy="73152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49640" y="3429000"/>
            <a:ext cx="914400" cy="685800"/>
          </a:xfrm>
          <a:prstGeom prst="line">
            <a:avLst/>
          </a:prstGeom>
          <a:ln w="19050">
            <a:solidFill>
              <a:srgbClr val="32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4767809"/>
            <a:ext cx="168465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6A9EB"/>
                </a:solidFill>
                <a:latin typeface="Aptos"/>
              </a:rPr>
              <a:t>QA reconciliation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7" y="5218435"/>
            <a:ext cx="9061705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9DAEC2"/>
                </a:solidFill>
                <a:latin typeface="Aptos"/>
              </a:rPr>
              <a:t>At project scope, rig-level NPT must reconcile to 4,008 hours. The corrected filter context prevents the project total from repeating on every rig row.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06 / QA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Release-control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Validation covers source integrity, calculations, filter context, dashboard architecture and final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561320" cy="502920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74519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Source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874519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SQLite tables, counts, keys,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88366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E05D5D"/>
                </a:solidFill>
                <a:latin typeface="Aptos"/>
              </a:rPr>
              <a:t>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04872"/>
            <a:ext cx="10561320" cy="502920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2374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Economic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9631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NPT cost + deferred impact + total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50545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0B54A"/>
                </a:solidFill>
                <a:latin typeface="Aptos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26664"/>
            <a:ext cx="10561320" cy="502920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4553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1810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Semantic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118104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Tables, relationships, KPI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12724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0B54A"/>
                </a:solidFill>
                <a:latin typeface="Aptos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561320" cy="502920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3989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DAX dependency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739896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Measures and denominator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74904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0B54A"/>
                </a:solidFill>
                <a:latin typeface="Aptos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70248"/>
            <a:ext cx="10561320" cy="502920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36168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Scenario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361688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4 scenarios and improvement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43708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0B54A"/>
                </a:solidFill>
                <a:latin typeface="Aptos"/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92040"/>
            <a:ext cx="10561320" cy="502920"/>
          </a:xfrm>
          <a:prstGeom prst="rect">
            <a:avLst/>
          </a:prstGeom>
          <a:solidFill>
            <a:srgbClr val="08192D"/>
          </a:solidFill>
          <a:ln>
            <a:solidFill>
              <a:srgbClr val="08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01091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9834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Dashboard / drill-through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983480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Visual catalog, six drill-throughs,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9926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0B54A"/>
                </a:solidFill>
                <a:latin typeface="Aptos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513832"/>
            <a:ext cx="10561320" cy="502920"/>
          </a:xfrm>
          <a:prstGeom prst="rect">
            <a:avLst/>
          </a:prstGeom>
          <a:solidFill>
            <a:srgbClr val="0F263E"/>
          </a:solidFill>
          <a:ln>
            <a:solidFill>
              <a:srgbClr val="0F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63270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6A9EB"/>
                </a:solidFill>
                <a:latin typeface="Apto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60527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Executive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560527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Project-level benchmark consistency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561441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0B54A"/>
                </a:solidFill>
                <a:latin typeface="Aptos"/>
              </a:rPr>
              <a:t>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6108193"/>
            <a:ext cx="10561320" cy="320040"/>
          </a:xfrm>
          <a:prstGeom prst="roundRect">
            <a:avLst/>
          </a:prstGeom>
          <a:solidFill>
            <a:srgbClr val="142F49"/>
          </a:solidFill>
          <a:ln>
            <a:solidFill>
              <a:srgbClr val="14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152796"/>
            <a:ext cx="5829546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dirty="0">
                <a:solidFill>
                  <a:srgbClr val="F5F8FC"/>
                </a:solidFill>
                <a:latin typeface="Aptos"/>
              </a:rPr>
              <a:t>Final QA principle: a visual is released only when its number, filter behavior and business meaning reconcile.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A9EB"/>
                </a:solidFill>
                <a:latin typeface="Aptos"/>
              </a:rPr>
              <a:t>07–08 / SCENARIO &amp; METRIC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Scenario framework and reference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EC2"/>
                </a:solidFill>
                <a:latin typeface="Aptos"/>
              </a:rPr>
              <a:t>Scenarios translate improvement assumptions into comparable operational and economic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331720" cy="123444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DAEC2"/>
                </a:solidFill>
                <a:latin typeface="Aptos"/>
              </a:rPr>
              <a:t>Current-state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331720" cy="123444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99339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Conservative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591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7614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DAEC2"/>
                </a:solidFill>
                <a:latin typeface="Aptos"/>
              </a:rPr>
              <a:t>Partial realization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28800"/>
            <a:ext cx="2331720" cy="123444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591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614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DAEC2"/>
                </a:solidFill>
                <a:latin typeface="Aptos"/>
              </a:rPr>
              <a:t>Planned improvement 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828800"/>
            <a:ext cx="2331720" cy="1234440"/>
          </a:xfrm>
          <a:prstGeom prst="roundRect">
            <a:avLst/>
          </a:prstGeom>
          <a:solidFill>
            <a:srgbClr val="0F263E"/>
          </a:solidFill>
          <a:ln>
            <a:solidFill>
              <a:srgbClr val="324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199339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Stretch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3591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9EB"/>
                </a:solidFill>
                <a:latin typeface="Aptos"/>
              </a:rP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7614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9DAEC2"/>
                </a:solidFill>
                <a:latin typeface="Aptos"/>
              </a:rPr>
              <a:t>Upper-bound improvement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9EB"/>
                </a:solidFill>
                <a:latin typeface="Aptos"/>
              </a:rPr>
              <a:t>Reference metric definitions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NPT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840480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Sum of event durations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4048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NPT /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840480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NPT hours ÷ drilling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988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Cost / 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498848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Drilling cost ÷ footage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4988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Economic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498848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Rig cost + deferred production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5721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Average ROP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157216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Footage ÷ drilling hours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15721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Drilling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157216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AEC2"/>
                </a:solidFill>
                <a:latin typeface="Aptos"/>
              </a:rPr>
              <a:t>Distinct active drilling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806440"/>
            <a:ext cx="10241280" cy="457200"/>
          </a:xfrm>
          <a:prstGeom prst="roundRect">
            <a:avLst/>
          </a:prstGeom>
          <a:solidFill>
            <a:srgbClr val="142F49"/>
          </a:solidFill>
          <a:ln>
            <a:solidFill>
              <a:srgbClr val="14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934456"/>
            <a:ext cx="6820146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dirty="0">
                <a:solidFill>
                  <a:srgbClr val="F5F8FC"/>
                </a:solidFill>
                <a:latin typeface="Aptos"/>
              </a:rPr>
              <a:t>Scenario interpretation: scenario percentages represent assumed realization of improvement potential; they are not forecasts.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DAEC2"/>
                </a:solidFill>
                <a:latin typeface="Aptos"/>
              </a:rPr>
              <a:t>GUYANA OFFSHORE DRILLING ANALYTICS  |  TECHNICAL APPENDIX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EC2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1806</Words>
  <Application>Microsoft Office PowerPoint</Application>
  <PresentationFormat>Widescreen</PresentationFormat>
  <Paragraphs>390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Anibal Ceballos</cp:lastModifiedBy>
  <cp:revision>1</cp:revision>
  <dcterms:created xsi:type="dcterms:W3CDTF">2013-01-27T09:14:16Z</dcterms:created>
  <dcterms:modified xsi:type="dcterms:W3CDTF">2026-09-24T18:11:32Z</dcterms:modified>
  <cp:category/>
</cp:coreProperties>
</file>